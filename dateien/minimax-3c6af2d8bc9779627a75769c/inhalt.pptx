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wordpress.com/2026/10/26/gefaelle-rinne-fallrohr-terrassenueberdachung-planen/" TargetMode="External"/><Relationship Id="rId3" Type="http://schemas.openxmlformats.org/officeDocument/2006/relationships/hyperlink" Target="https://holzundhaus.github.io/1aholzbau/dateien/minimax-3c6af2d8bc9779627a75769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Rinne und Fallrohr an einer Holz-Terrassenüberdachung planen · Erklärende Präsentation</a:t>
            </a:r>
          </a:p>
        </p:txBody>
      </p:sp>
      <p:sp>
        <p:nvSpPr>
          <p:cNvPr id="3" name="Content Placeholder 2"/>
          <p:cNvSpPr>
            <a:spLocks noGrp="1"/>
          </p:cNvSpPr>
          <p:nvPr>
            <p:ph idx="1"/>
          </p:nvPr>
        </p:nvSpPr>
        <p:spPr/>
        <p:txBody>
          <a:bodyPr/>
          <a:lstStyle/>
          <a:p>
            <a:r>
              <a:t>Überblick: Bei einer Holz-Terrassenüberdachung ist die Regenwasserführung kein nebensächliches Ausstattungsdetail. Gefälle, Rinne und Fallrohr bestimmen, wo Wasser bleibt, ob Terrasse und Wege nutzbar bleiben und wie Feuchte am Holz vermieden wird. Wer diese Punkte schon in der Vorplanung klärt, verhindert nachträgliche Änderungen an der Gestaltung. Dieser Leitfaden zeigt, welche Entscheidungen vor der Montage getroffen werden sollten und welche Angaben eine Anfrage an den Fachbetrieb sinnvoll ergänzen.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vom Dach bis zur Traufkante planen</a:t>
            </a:r>
          </a:p>
        </p:txBody>
      </p:sp>
      <p:sp>
        <p:nvSpPr>
          <p:cNvPr id="3" name="Content Placeholder 2"/>
          <p:cNvSpPr>
            <a:spLocks noGrp="1"/>
          </p:cNvSpPr>
          <p:nvPr>
            <p:ph idx="1"/>
          </p:nvPr>
        </p:nvSpPr>
        <p:spPr/>
        <p:txBody>
          <a:bodyPr/>
          <a:lstStyle/>
          <a:p>
            <a:pPr>
              <a:defRPr sz="1800"/>
            </a:pPr>
            <a:r>
              <a:t>Zunächst muss feststehen, in welche Richtung das Wasser vom Dach abfließen soll. Dafür sind die Richtung des Gefälles, das geplante Mindestgefälle und die Anordnung von Sparren und Pfetten gemeinsam zu betrachten. Ein Gefälle zur Hauswand kann zwar optisch geordnet wirken, das Wasser jedoch gegen den Wandanschluss drücken. Bei freistehenden Dächern kann eine Ableitung zu zwei Seiten sinnvoll sein, wenn dadurch ein geeigneter Tiefpunkt entsteht. Auch die darunterliegende Terrasse braucht ein Gefälle, wenn sie nicht vollständig überdacht ist oder Schlagregen unter das Dach gelangt. So wird vermieden, dass sich Wasser an der Terrassentür oder Sc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vom Dach bis zur Traufkante planen</a:t>
            </a:r>
          </a:p>
        </p:txBody>
      </p:sp>
      <p:sp>
        <p:nvSpPr>
          <p:cNvPr id="3" name="Content Placeholder 2"/>
          <p:cNvSpPr>
            <a:spLocks noGrp="1"/>
          </p:cNvSpPr>
          <p:nvPr>
            <p:ph idx="1"/>
          </p:nvPr>
        </p:nvSpPr>
        <p:spPr/>
        <p:txBody>
          <a:bodyPr/>
          <a:lstStyle/>
          <a:p>
            <a:pPr>
              <a:defRPr sz="1800"/>
            </a:pPr>
            <a:r>
              <a:t>hwelle sammelt.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Rinnenposition und Anschlusshöhen früh festlegen</a:t>
            </a:r>
          </a:p>
        </p:txBody>
      </p:sp>
      <p:sp>
        <p:nvSpPr>
          <p:cNvPr id="3" name="Content Placeholder 2"/>
          <p:cNvSpPr>
            <a:spLocks noGrp="1"/>
          </p:cNvSpPr>
          <p:nvPr>
            <p:ph idx="1"/>
          </p:nvPr>
        </p:nvSpPr>
        <p:spPr/>
        <p:txBody>
          <a:bodyPr/>
          <a:lstStyle/>
          <a:p>
            <a:pPr>
              <a:defRPr sz="1800"/>
            </a:pPr>
            <a:r>
              <a:t>Die Rinne an der Traufkante sammelt das Wasser, bevor es auf die Terrasse fällt. Bei einem Wandanschluss liegt sie in der Regel auf der vom Haus abgewandten Seite; bei freistehenden Überdachungen kann sie an beiden Längsseiten erforderlich sein. Wichtig sind außerdem die Einbauhöhe, der Laubfangkorb und die Befestigung an Sparren oder Traufpfette. Eine Halterung darf nicht nur an der sichtbaren Bekleidung befestigt sein. Laubfang und Rinnenstöße sollten erreichbar bleiben, damit Reinigung und Kontrolle ohne umfangreichen Abbau möglich sind. Zugleich muss bereits festgelegt werden, wie das gesammelte Wasser von der Traufkante auf die Terrasse,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Rinnenposition und Anschlusshöhen früh festlegen</a:t>
            </a:r>
          </a:p>
        </p:txBody>
      </p:sp>
      <p:sp>
        <p:nvSpPr>
          <p:cNvPr id="3" name="Content Placeholder 2"/>
          <p:cNvSpPr>
            <a:spLocks noGrp="1"/>
          </p:cNvSpPr>
          <p:nvPr>
            <p:ph idx="1"/>
          </p:nvPr>
        </p:nvSpPr>
        <p:spPr/>
        <p:txBody>
          <a:bodyPr/>
          <a:lstStyle/>
          <a:p>
            <a:pPr>
              <a:defRPr sz="1800"/>
            </a:pPr>
            <a:r>
              <a:t> in eine Versickerung oder zum Fallrohr weitergeleitet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Fallrohr außerhalb von Sitzplätzen und Durchgängen</a:t>
            </a:r>
          </a:p>
        </p:txBody>
      </p:sp>
      <p:sp>
        <p:nvSpPr>
          <p:cNvPr id="3" name="Content Placeholder 2"/>
          <p:cNvSpPr>
            <a:spLocks noGrp="1"/>
          </p:cNvSpPr>
          <p:nvPr>
            <p:ph idx="1"/>
          </p:nvPr>
        </p:nvSpPr>
        <p:spPr/>
        <p:txBody>
          <a:bodyPr/>
          <a:lstStyle/>
          <a:p>
            <a:pPr>
              <a:defRPr sz="1800"/>
            </a:pPr>
            <a:r>
              <a:t>Das Fallrohr ergänzt die Rinne, doch seine Position entscheidet über die tägliche Nutzung der Terrasse. Es sollte weder einen Sitzplatz noch eine Kochstelle, einen Durchgang oder den Zugang zur Tür blockieren. Ebenso wichtig ist ein erreichbarer Wartungsbereich: Eine Reinigungsöffnung sollte ohne Demontage von Möbeln oder Terrassenbelägen zugänglich sein. Bei freistehenden Überdachungen kann das Fallrohr an einer Stütze geführt werden, weil dort bereits die Lastabtragung vorhanden ist. Die anschließende Strecke zur Versickerung oder zum Kanal sollte gradlinig und kurz sein. Eine Versickerung direkt unter der Terrasse ist dabei zu vermeiden.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Haus und Terrassentür abstimmen</a:t>
            </a:r>
          </a:p>
        </p:txBody>
      </p:sp>
      <p:sp>
        <p:nvSpPr>
          <p:cNvPr id="3" name="Content Placeholder 2"/>
          <p:cNvSpPr>
            <a:spLocks noGrp="1"/>
          </p:cNvSpPr>
          <p:nvPr>
            <p:ph idx="1"/>
          </p:nvPr>
        </p:nvSpPr>
        <p:spPr/>
        <p:txBody>
          <a:bodyPr/>
          <a:lstStyle/>
          <a:p>
            <a:pPr>
              <a:defRPr sz="1800"/>
            </a:pPr>
            <a:r>
              <a:t>Am Haus benötigt der Wandanschluss ein geeignetes Anschlussblech oder eine Zarge, das Wasser vom Holzbauteil wegleitet und in die Rinne führt. Der tragfähige Befestigungsbereich hinter der Fassade muss bekannt sein; eine vorhandene Dämmung ist kein geeigneter Befestigungsgrund. Stehendes Wasser am Anschluss kann Feuchte am Holz und an der Fassade verursachen. Auch die Terrassentür gehört in die Planung ein. Bei Schlagregen kann Wasser seitlich gegen den Türbereich gelangen. Höhendifferenz zwischen Schwelle und Terrassenbelag sowie eine funktionierende Tropfkante sind deshalb mitzubetrachten, damit Wasser nicht in den Anschlussbereich läuft.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Ausführung früh in die Anfrage aufnehmen</a:t>
            </a:r>
          </a:p>
        </p:txBody>
      </p:sp>
      <p:sp>
        <p:nvSpPr>
          <p:cNvPr id="3" name="Content Placeholder 2"/>
          <p:cNvSpPr>
            <a:spLocks noGrp="1"/>
          </p:cNvSpPr>
          <p:nvPr>
            <p:ph idx="1"/>
          </p:nvPr>
        </p:nvSpPr>
        <p:spPr/>
        <p:txBody>
          <a:bodyPr/>
          <a:lstStyle/>
          <a:p>
            <a:pPr>
              <a:defRPr sz="1800"/>
            </a:pPr>
            <a:r>
              <a:t>Eine funktionierende Wasserführung bleibt nur dann zuverlässig nutzbar, wenn ihre Wartungsstellen erreichbar bleiben. Dazu gehören ein gut zugänglicher Laubfangkorb, erreichbare Reinigungsöffnungen am Fallrohr und kontrollierbare Rinnenstöße. Auch Zugänge zu Anschlussblechen sollten nicht dauerhaft durch Möbel oder Pflanztröge blockiert werden. In die Anfrage an den Fachbetrieb gehören daher Gefällerichtung, Mindestgefälle, Rinnenposition, Fallrohrposition, Anschluss an Versickerung oder Kanal sowie die Details an Haus und Terrassentür. Wer diese Punkte gemeinsam mit Dachmaterial und Stützenlage beschreibt, schafft eine klare Grundlage für 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Ausführung früh in die Anfrage aufnehmen</a:t>
            </a:r>
          </a:p>
        </p:txBody>
      </p:sp>
      <p:sp>
        <p:nvSpPr>
          <p:cNvPr id="3" name="Content Placeholder 2"/>
          <p:cNvSpPr>
            <a:spLocks noGrp="1"/>
          </p:cNvSpPr>
          <p:nvPr>
            <p:ph idx="1"/>
          </p:nvPr>
        </p:nvSpPr>
        <p:spPr/>
        <p:txBody>
          <a:bodyPr/>
          <a:lstStyle/>
          <a:p>
            <a:pPr>
              <a:defRPr sz="1800"/>
            </a:pPr>
            <a:r>
              <a:t>rgleichbare Angebote.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Gefälle, Rinne und Fallrohr an einer Holz-Terrassenüberdachung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
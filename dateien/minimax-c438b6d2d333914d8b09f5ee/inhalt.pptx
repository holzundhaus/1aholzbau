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blob/5274c6c65d79f389c9202497c62ba7e3c8746739/_posts/2026-10-22-aufsparrendaemmung-dacherneuerung-voraussetzungen.md" TargetMode="External"/><Relationship Id="rId3" Type="http://schemas.openxmlformats.org/officeDocument/2006/relationships/hyperlink" Target="https://holzundhaus.github.io/1aholzbau/dateien/minimax-c438b6d2d333914d8b09f5e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Aufsparrendämmung bei einer Dacherneuerung: Diese Voraussetzungen prüfen Sie vorher · Erklärende Präsentation</a:t>
            </a:r>
          </a:p>
        </p:txBody>
      </p:sp>
      <p:sp>
        <p:nvSpPr>
          <p:cNvPr id="3" name="Content Placeholder 2"/>
          <p:cNvSpPr>
            <a:spLocks noGrp="1"/>
          </p:cNvSpPr>
          <p:nvPr>
            <p:ph idx="1"/>
          </p:nvPr>
        </p:nvSpPr>
        <p:spPr/>
        <p:txBody>
          <a:bodyPr/>
          <a:lstStyle/>
          <a:p>
            <a:r>
              <a:t>Überblick: Eine Aufsparrendämmung kann bei einer Dacherneuerung sinnvoll sein, weil beide Maßnahmen den geöffneten Dachaufbau betreffen. Entscheidend ist jedoch, ob der vorhandene Bestand die zusätzliche Dämmebene trägt und ob alle Anschlüsse, der Feuchteschutz sowie die luftdichte Ebene fachgerecht gelöst werden können. Der folgende Leitfaden zeigt, welche Punkte vor der Anfrage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die Aufsparrendämmung infrage kommt</a:t>
            </a:r>
          </a:p>
        </p:txBody>
      </p:sp>
      <p:sp>
        <p:nvSpPr>
          <p:cNvPr id="3" name="Content Placeholder 2"/>
          <p:cNvSpPr>
            <a:spLocks noGrp="1"/>
          </p:cNvSpPr>
          <p:nvPr>
            <p:ph idx="1"/>
          </p:nvPr>
        </p:nvSpPr>
        <p:spPr/>
        <p:txBody>
          <a:bodyPr/>
          <a:lstStyle/>
          <a:p>
            <a:pPr>
              <a:defRPr sz="1800"/>
            </a:pPr>
            <a:r>
              <a:t>Bei einer Aufsparrendämmung wird die Dämmung von außen auf die vorhandenen Sparren gelegt. Das ist vor allem sinnvoll, wenn die Dachdeckung ohnehin erneuert wird und der Rückbau der äußeren Hülle ohnehin ansteht. Ohne diesen Anlass wäre der zusätzliche Aufwand meist schwerer zu rechtfertigen, weil die komplette Eindeckung zurückgebaut werden müsste. Auch bei einem bereits genutzten oder geplant auszubauenden Dachgeschoss kann die Variante interessant sein: Die sichtbaren Sparren bleiben weitgehend erhalten, während die Dämmung oberhalb der Dachkonstruktion liegt. Ein kurzer Überblick der Varianten hilft bei der Einordnung: Die Zwischensparren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die Aufsparrendämmung infrage kommt</a:t>
            </a:r>
          </a:p>
        </p:txBody>
      </p:sp>
      <p:sp>
        <p:nvSpPr>
          <p:cNvPr id="3" name="Content Placeholder 2"/>
          <p:cNvSpPr>
            <a:spLocks noGrp="1"/>
          </p:cNvSpPr>
          <p:nvPr>
            <p:ph idx="1"/>
          </p:nvPr>
        </p:nvSpPr>
        <p:spPr/>
        <p:txBody>
          <a:bodyPr/>
          <a:lstStyle/>
          <a:p>
            <a:pPr>
              <a:defRPr sz="1800"/>
            </a:pPr>
            <a:r>
              <a:t>dämmung nutzt die vorhandene Sparrenhöhe, die innenseitige Dämmung greift in Raumhöhe und Bekleidungen ein.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Sparren und Dachaufbau prüfen</a:t>
            </a:r>
          </a:p>
        </p:txBody>
      </p:sp>
      <p:sp>
        <p:nvSpPr>
          <p:cNvPr id="3" name="Content Placeholder 2"/>
          <p:cNvSpPr>
            <a:spLocks noGrp="1"/>
          </p:cNvSpPr>
          <p:nvPr>
            <p:ph idx="1"/>
          </p:nvPr>
        </p:nvSpPr>
        <p:spPr/>
        <p:txBody>
          <a:bodyPr/>
          <a:lstStyle/>
          <a:p>
            <a:pPr>
              <a:defRPr sz="1800"/>
            </a:pPr>
            <a:r>
              <a:t>Die zusätzliche Dämmebene bringt Gewicht und eine durchgehende Schicht in den Dachaufbau. Deshalb müssen Tragfähigkeit und Zustand der Sparren, Pfetten und Anschlüsse geprüft werden. Sichtbare Verformungen, Feuchteflecken, Pilzbefall, Insektenfraß oder bereits ausgeführte Eingriffe gehören in die Bestandsaufnahme. Für die Anfrage sollten außerdem Sparrenmaße, Achsabstände sowie Art und Zustand von Lattung, Konterlattung und Schalung dokumentiert werden. Auswechslungen, Aufsattelungen, Gauben und Zwerchgiebel sind ebenfalls zu markieren. Eine möglichst ebene Fläche über den Sparren ist Voraussetzung für die spätere Dämmung. Höhensprünge und 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Sparren und Dachaufbau prüfen</a:t>
            </a:r>
          </a:p>
        </p:txBody>
      </p:sp>
      <p:sp>
        <p:nvSpPr>
          <p:cNvPr id="3" name="Content Placeholder 2"/>
          <p:cNvSpPr>
            <a:spLocks noGrp="1"/>
          </p:cNvSpPr>
          <p:nvPr>
            <p:ph idx="1"/>
          </p:nvPr>
        </p:nvSpPr>
        <p:spPr/>
        <p:txBody>
          <a:bodyPr/>
          <a:lstStyle/>
          <a:p>
            <a:pPr>
              <a:defRPr sz="1800"/>
            </a:pPr>
            <a:r>
              <a:t>hlende Schalungen erhöhen den Vorbereitungsaufwand und müssen daher früh erkannt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und Feuchteschutz im Blick behalten</a:t>
            </a:r>
          </a:p>
        </p:txBody>
      </p:sp>
      <p:sp>
        <p:nvSpPr>
          <p:cNvPr id="3" name="Content Placeholder 2"/>
          <p:cNvSpPr>
            <a:spLocks noGrp="1"/>
          </p:cNvSpPr>
          <p:nvPr>
            <p:ph idx="1"/>
          </p:nvPr>
        </p:nvSpPr>
        <p:spPr/>
        <p:txBody>
          <a:bodyPr/>
          <a:lstStyle/>
          <a:p>
            <a:pPr>
              <a:defRPr sz="1800"/>
            </a:pPr>
            <a:r>
              <a:t>Mit einer Aufsparrendämmung verlagert sich die luftdichte Ebene auf die Raumseite der Sparren. Dort muss sie lückenlos an Mauerwerk, Giebelwände, Gauben und Dachfenster angeschlossen werden. Besonders wichtig sind die Übergänge zu Ortgang und Traufe sowie Durchdringungen für Leitungen, Antennen oder Lüftungsrohre. Auch die geplante Nutzung des Dachgeschosses beeinflusst die Anforderungen: Soll es beheizt werden, verschiebt sich die wärmetechnische Trennfläche in den Dachaufbau. Hinzu kommt eine funktionsfähige zweite wasserführende Ebene unter der Eindeckung. Falls sie fehlt, sollte ihre Herstellung Bestandteil der Dacherneuerung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nach dem vollständigen Aufbau prüfen</a:t>
            </a:r>
          </a:p>
        </p:txBody>
      </p:sp>
      <p:sp>
        <p:nvSpPr>
          <p:cNvPr id="3" name="Content Placeholder 2"/>
          <p:cNvSpPr>
            <a:spLocks noGrp="1"/>
          </p:cNvSpPr>
          <p:nvPr>
            <p:ph idx="1"/>
          </p:nvPr>
        </p:nvSpPr>
        <p:spPr/>
        <p:txBody>
          <a:bodyPr/>
          <a:lstStyle/>
          <a:p>
            <a:pPr>
              <a:defRPr sz="1800"/>
            </a:pPr>
            <a:r>
              <a:t>Vergleichbare Angebote sollten nicht nur die Dämmstärke nennen, sondern den gesamten Schichtenaufbau und alle damit verbundenen Arbeiten zuordnen. Dazu gehören der Rückbau und die Entsorgung von Eindeckung und Lattung, die Vorbereitung des Untergrunds, gegebenenfalls die Ertüchtigung der Sparrenlage sowie Lieferung und Montage der Dämmung. Auch die zweite wasserführende Ebene, die luftdichte Ebene und sämtliche Anschlussdetails müssen ausdrücklich berücksichtigt sein. Ebenso wichtig sind die Wiederherstellung der Dachdeckung mit Lattung, Konterlattung und Dachrandabschlüssen. Fragen zu konkreten Einsparbeträgen, optimalen Dämmstärken oder För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nach dem vollständigen Aufbau prüfen</a:t>
            </a:r>
          </a:p>
        </p:txBody>
      </p:sp>
      <p:sp>
        <p:nvSpPr>
          <p:cNvPr id="3" name="Content Placeholder 2"/>
          <p:cNvSpPr>
            <a:spLocks noGrp="1"/>
          </p:cNvSpPr>
          <p:nvPr>
            <p:ph idx="1"/>
          </p:nvPr>
        </p:nvSpPr>
        <p:spPr/>
        <p:txBody>
          <a:bodyPr/>
          <a:lstStyle/>
          <a:p>
            <a:pPr>
              <a:defRPr sz="1800"/>
            </a:pPr>
            <a:r>
              <a:t>dermöglichkeiten sind projektspezifisch und vor der Beauftragung mit dem Fachbetrieb sowie den zuständigen Stellen zu klären.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eine aussagekräftige Anfrage</a:t>
            </a:r>
          </a:p>
        </p:txBody>
      </p:sp>
      <p:sp>
        <p:nvSpPr>
          <p:cNvPr id="3" name="Content Placeholder 2"/>
          <p:cNvSpPr>
            <a:spLocks noGrp="1"/>
          </p:cNvSpPr>
          <p:nvPr>
            <p:ph idx="1"/>
          </p:nvPr>
        </p:nvSpPr>
        <p:spPr/>
        <p:txBody>
          <a:bodyPr/>
          <a:lstStyle/>
          <a:p>
            <a:pPr>
              <a:defRPr sz="1800"/>
            </a:pPr>
            <a:r>
              <a:t>Eine vorbereitete Unterlagenliste erleichtert die realistische Einschätzung des Vorhabens: Sparrenmaße, Achsabstände und sichtbare Befunde festhalten; Zustand von Eindeckung, Lattung und Schalung beschreiben; Anschlusssituationen an Giebel, Traufe, Gauben und Dachfenstern skizzieren; die geplante Nutzung des Dachgeschosses nennen; sowie zu erhaltende Holzbauteile und Raumhöhen angeben. Mit diesen Angaben lassen sich Dämmvariante und Dacherneuerung als zusammenhängende Maßnahme besser beurteilen. Weitere Grundlagen zur Aufsparrendämmung und eine Projektvermittlung zur Aufsparrendämmung können die nächste Planungsphase unterstützen.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Aufsparrendämmung bei einer Dacherneuerung: Diese Voraussetzungen prüfen Sie vorher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
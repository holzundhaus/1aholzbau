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wordpress.com/2026/10/31/holzterrasse-tueranschluss-hoehenschluss-tropfkante-wasserfuehrung/" TargetMode="External"/><Relationship Id="rId3" Type="http://schemas.openxmlformats.org/officeDocument/2006/relationships/hyperlink" Target="https://holzundhaus.github.io/1aholzbau/dateien/minimax-b0181d4f3804da4b47c0767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Türanschluss bei der Holzterrasse: Höhenlage, Tropfkante und Wasserabfluss im Detail · Erklärende Präsentation</a:t>
            </a:r>
          </a:p>
        </p:txBody>
      </p:sp>
      <p:sp>
        <p:nvSpPr>
          <p:cNvPr id="3" name="Content Placeholder 2"/>
          <p:cNvSpPr>
            <a:spLocks noGrp="1"/>
          </p:cNvSpPr>
          <p:nvPr>
            <p:ph idx="1"/>
          </p:nvPr>
        </p:nvSpPr>
        <p:spPr/>
        <p:txBody>
          <a:bodyPr/>
          <a:lstStyle/>
          <a:p>
            <a:r>
              <a:t>Überblick: Der Türanschluss einer Holzterrasse entscheidet mit darüber, ob Regenwasser kontrolliert abfließt oder in der Anschlussfuge stehen bleibt. Die zentrale Planungsfrage lautet deshalb nicht nur, welche Dielen verwendet werden, sondern auf welcher Höhe der fertige Belag liegt und wie Wasser vom Haus weggeführt wird. Der folgende Leitfaden stellt die wichtigsten Abstimmungen für die Vorbereitung einer Anfrage und die Ausführung durch den Fachbetrieb zusammen.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Übergang zur Terrassentür besonders sorgfältig geplant werden muss</a:t>
            </a:r>
          </a:p>
        </p:txBody>
      </p:sp>
      <p:sp>
        <p:nvSpPr>
          <p:cNvPr id="3" name="Content Placeholder 2"/>
          <p:cNvSpPr>
            <a:spLocks noGrp="1"/>
          </p:cNvSpPr>
          <p:nvPr>
            <p:ph idx="1"/>
          </p:nvPr>
        </p:nvSpPr>
        <p:spPr/>
        <p:txBody>
          <a:bodyPr/>
          <a:lstStyle/>
          <a:p>
            <a:pPr>
              <a:defRPr sz="1800"/>
            </a:pPr>
            <a:r>
              <a:t>An der Terrassentür treffen Belag, Schwelle und Fassade aufeinander. Liegt der fertige Belag zu hoch, fehlt ein Gefälle oder ist keine Tropfkante vorhanden, kann sich Wasser vor der Tür sammeln und in die Fuge dringen. Für Holz ist das besonders relevant, weil dauerhafte Feuchte zu Quellen, Verformungen und im ungünstigsten Fall zu Fäulnis führen kann. Wasser, das bei Schlagregen gegen die Fassade getrieben wird, nimmt zudem einen kürzeren Weg durch die Anschlussfuge. Deshalb müssen Endbhöhe, Türschwelle, Gefälle und Tropfkante als zusammenhängendes Detail betrachtet werden. Die konkrete Ausführung hängt dabei von Fassade, Dämmung, Sockel 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Übergang zur Terrassentür besonders sorgfältig geplant werden muss</a:t>
            </a:r>
          </a:p>
        </p:txBody>
      </p:sp>
      <p:sp>
        <p:nvSpPr>
          <p:cNvPr id="3" name="Content Placeholder 2"/>
          <p:cNvSpPr>
            <a:spLocks noGrp="1"/>
          </p:cNvSpPr>
          <p:nvPr>
            <p:ph idx="1"/>
          </p:nvPr>
        </p:nvSpPr>
        <p:spPr/>
        <p:txBody>
          <a:bodyPr/>
          <a:lstStyle/>
          <a:p>
            <a:pPr>
              <a:defRPr sz="1800"/>
            </a:pPr>
            <a:r>
              <a:t> Unterbau 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Bausteine: Höhe, Gefälle und Tropfkante</a:t>
            </a:r>
          </a:p>
        </p:txBody>
      </p:sp>
      <p:sp>
        <p:nvSpPr>
          <p:cNvPr id="3" name="Content Placeholder 2"/>
          <p:cNvSpPr>
            <a:spLocks noGrp="1"/>
          </p:cNvSpPr>
          <p:nvPr>
            <p:ph idx="1"/>
          </p:nvPr>
        </p:nvSpPr>
        <p:spPr/>
        <p:txBody>
          <a:bodyPr/>
          <a:lstStyle/>
          <a:p>
            <a:pPr>
              <a:defRPr sz="1800"/>
            </a:pPr>
            <a:r>
              <a:t>Zuerst wird die fertige Belagshöhe festgelegt. Wichtig sind dabei die Höhe über dem vorhandenen Untergrund, der Abstand zur Schwellenoberkante und der anschließende Geländeverlauf. Erst mit dieser Endbhöhe lässt sich der verfügbare Aufbau aus Dielen, Unterkonstruktion und Befestigung sinnvoll planen. Zweitens braucht der Belag ein Gefälle vom Haus weg; in der Praxis werden dafür häufig rund zwei Prozent genannt. Unter den Dielen sollte außerdem eine durchgehende Entwässerungsebene das Wasser zur Gebäudekante führen. Drittens endet der Belag mit einer ungestörten Tropfkante, an der das Wasser abtropfen kann. Einige Zentimeter Abstand zur Fassa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Bausteine: Höhe, Gefälle und Tropfkante</a:t>
            </a:r>
          </a:p>
        </p:txBody>
      </p:sp>
      <p:sp>
        <p:nvSpPr>
          <p:cNvPr id="3" name="Content Placeholder 2"/>
          <p:cNvSpPr>
            <a:spLocks noGrp="1"/>
          </p:cNvSpPr>
          <p:nvPr>
            <p:ph idx="1"/>
          </p:nvPr>
        </p:nvSpPr>
        <p:spPr/>
        <p:txBody>
          <a:bodyPr/>
          <a:lstStyle/>
          <a:p>
            <a:pPr>
              <a:defRPr sz="1800"/>
            </a:pPr>
            <a:r>
              <a:t>de, ein offener beziehungsweise nicht stehendes Wasser aufnehmender Spalt und ein wasserableitender Anschluss können die kapillare Verbindung unterbrechen. Die genauen Maße gehören in die Detailplanung.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Fehler und die Vorbereitung der Anfrage</a:t>
            </a:r>
          </a:p>
        </p:txBody>
      </p:sp>
      <p:sp>
        <p:nvSpPr>
          <p:cNvPr id="3" name="Content Placeholder 2"/>
          <p:cNvSpPr>
            <a:spLocks noGrp="1"/>
          </p:cNvSpPr>
          <p:nvPr>
            <p:ph idx="1"/>
          </p:nvPr>
        </p:nvSpPr>
        <p:spPr/>
        <p:txBody>
          <a:bodyPr/>
          <a:lstStyle/>
          <a:p>
            <a:pPr>
              <a:defRPr sz="1800"/>
            </a:pPr>
            <a:r>
              <a:t>Typische Fehlerquellen sind ein Belag ohne Gefälle, bündig an die Schwelle geführte Dielen, eine wasserhaltende Mulde unter der Unterkonstruktion oder eine dauerelastisch verschlossene Anschlussfuge. Wird die neue Aufbauhöhe erst auf der Baustale mit der Bestandsschwelle zusammengeführt, entstehen häufig teure Anpassungen. Vor der Anfrage sollten deshalb die fertige Belagshöhe, der gewünschte Abstand zur Tür, der Geländeverlauf, die Ausbildung der Schwelle und die Beanspruchung durch Spritzwasser geklärt sein. Hilfreich sind außerdem Fotos der Tür mit Schwelle und vorhandenem Belag sowie eine Skizze der gewünschten Endbhöhe. Für eine fachlich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Fehler und die Vorbereitung der Anfrage</a:t>
            </a:r>
          </a:p>
        </p:txBody>
      </p:sp>
      <p:sp>
        <p:nvSpPr>
          <p:cNvPr id="3" name="Content Placeholder 2"/>
          <p:cNvSpPr>
            <a:spLocks noGrp="1"/>
          </p:cNvSpPr>
          <p:nvPr>
            <p:ph idx="1"/>
          </p:nvPr>
        </p:nvSpPr>
        <p:spPr/>
        <p:txBody>
          <a:bodyPr/>
          <a:lstStyle/>
          <a:p>
            <a:pPr>
              <a:defRPr sz="1800"/>
            </a:pPr>
            <a:r>
              <a:t>e Einschätzung kann die Übersicht zum Spritzwasserbereich an der Holzfassade herangezogen werden, da der Sockel- und Fassadenaufbau den Türanschluss direkt beeinflusst.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mit Überdachung, Fassade und Balkon</a:t>
            </a:r>
          </a:p>
        </p:txBody>
      </p:sp>
      <p:sp>
        <p:nvSpPr>
          <p:cNvPr id="3" name="Content Placeholder 2"/>
          <p:cNvSpPr>
            <a:spLocks noGrp="1"/>
          </p:cNvSpPr>
          <p:nvPr>
            <p:ph idx="1"/>
          </p:nvPr>
        </p:nvSpPr>
        <p:spPr/>
        <p:txBody>
          <a:bodyPr/>
          <a:lstStyle/>
          <a:p>
            <a:pPr>
              <a:defRPr sz="1800"/>
            </a:pPr>
            <a:r>
              <a:t>Der Türanschluss wirkt nicht isoliert. Eine Terrassenüberdachung verändert den Wasseranfall und damit die Beanspruchung der Tropfkante. Eine angrenzende Holzfassade benötigt einen sauber ausgebildeten Sockelbereich, damit Spritzwasser nicht in problematische Zonen gelangt. Auch ein benachbarter Holzbalkon kann den Höhenanschluss beeinflussen, wenn die Beläge aneinanderstoßen. Diese Arbeiten sollten deshalb früh miteinander abgestimmt werden. Ebenso wichtig sind Reinigungsmöglichkeiten und ein zugänglicher Wartungsbereich für die Anschlussfuge. Laub, Erde oder Moos können den Ablauf verstopfen; der Übergang sollte regelmäßig auf stehendes Wass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Zusammenspiel mit Überdachung, Fassade und Balkon</a:t>
            </a:r>
          </a:p>
        </p:txBody>
      </p:sp>
      <p:sp>
        <p:nvSpPr>
          <p:cNvPr id="3" name="Content Placeholder 2"/>
          <p:cNvSpPr>
            <a:spLocks noGrp="1"/>
          </p:cNvSpPr>
          <p:nvPr>
            <p:ph idx="1"/>
          </p:nvPr>
        </p:nvSpPr>
        <p:spPr/>
        <p:txBody>
          <a:bodyPr/>
          <a:lstStyle/>
          <a:p>
            <a:pPr>
              <a:defRPr sz="1800"/>
            </a:pPr>
            <a:r>
              <a:t>er und Verschmutzung kontrolliert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Ausführung und Pflege zu beachten ist</a:t>
            </a:r>
          </a:p>
        </p:txBody>
      </p:sp>
      <p:sp>
        <p:nvSpPr>
          <p:cNvPr id="3" name="Content Placeholder 2"/>
          <p:cNvSpPr>
            <a:spLocks noGrp="1"/>
          </p:cNvSpPr>
          <p:nvPr>
            <p:ph idx="1"/>
          </p:nvPr>
        </p:nvSpPr>
        <p:spPr/>
        <p:txBody>
          <a:bodyPr/>
          <a:lstStyle/>
          <a:p>
            <a:pPr>
              <a:defRPr sz="1800"/>
            </a:pPr>
            <a:r>
              <a:t>Eine korrekt geplante Tropfkante wirkt nur, wenn sie dauerhaft funktionsfähig bleibt. Deshalb gehört die Kontrolle des Ablaufs zur regelmäßigen Pflege, nicht allein zur Fertigstellung. Auch nachträgliche Veränderungen, beispielsweise eine zusätzliche Pergola, können das Trocknungsverhalten beeinflussen und sollten dem Fachbetrieb mitgeteilt werden. Für die Bewertung eines Angebots ist es sinnvoll, nicht nur die Dielenfläche, sondern den gesamten Aufbau einschließlich Unterkonstruktion und Anschlussarbeiten zu vergleichen. Der Fachbetrieb kann anhand der örtlichen Geometrie und der vorhandenen Bauteile die passende Ausführung festlegen. Pausch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Ausführung und Pflege zu beachten ist</a:t>
            </a:r>
          </a:p>
        </p:txBody>
      </p:sp>
      <p:sp>
        <p:nvSpPr>
          <p:cNvPr id="3" name="Content Placeholder 2"/>
          <p:cNvSpPr>
            <a:spLocks noGrp="1"/>
          </p:cNvSpPr>
          <p:nvPr>
            <p:ph idx="1"/>
          </p:nvPr>
        </p:nvSpPr>
        <p:spPr/>
        <p:txBody>
          <a:bodyPr/>
          <a:lstStyle/>
          <a:p>
            <a:pPr>
              <a:defRPr sz="1800"/>
            </a:pPr>
            <a:r>
              <a:t>ale Aussagen zu einer dauerhaft trockenen Verbindung wären dagegen irreführend, weil die Details am jeweiligen Gebäude voneinander abweichen. Die weiteren Hinweise zum Zusammenspiel von Holzterrasse und Hausfassade lassen sich mit dem Beitrag zum Türanschluss bei Holzterrassen vergleichen.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Türanschluss bei der Holzterrasse: Höhenlage, Tropfkante und Wasserabfluss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